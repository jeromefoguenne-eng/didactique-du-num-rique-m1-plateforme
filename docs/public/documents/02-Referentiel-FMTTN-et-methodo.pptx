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68" r:id="rId5"/>
    <p:sldId id="273" r:id="rId6"/>
    <p:sldId id="274" r:id="rId7"/>
    <p:sldId id="275" r:id="rId8"/>
    <p:sldId id="276" r:id="rId9"/>
    <p:sldId id="278" r:id="rId10"/>
    <p:sldId id="280" r:id="rId11"/>
    <p:sldId id="277" r:id="rId12"/>
    <p:sldId id="279" r:id="rId13"/>
    <p:sldId id="281" r:id="rId14"/>
    <p:sldId id="282" r:id="rId15"/>
    <p:sldId id="283" r:id="rId16"/>
    <p:sldId id="284" r:id="rId17"/>
    <p:sldId id="285" r:id="rId18"/>
    <p:sldId id="287" r:id="rId19"/>
    <p:sldId id="286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18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80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612F89E-ACBA-48C0-ABC4-9D4D9F5FBB6C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6B3739-9081-478F-812E-AE7CE140632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233E437-8941-497F-9A00-9CB48710899C}" type="datetime1">
              <a:rPr lang="fr-FR" noProof="0" smtClean="0"/>
              <a:t>16/09/2026</a:t>
            </a:fld>
            <a:endParaRPr lang="fr-FR" noProof="0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60CF8BB-EBC7-4B8F-9632-A5A136FBB880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fr-FR" noProof="0" smtClean="0"/>
              <a:t>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246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609600" y="755780"/>
            <a:ext cx="6858000" cy="3200400"/>
          </a:xfrm>
        </p:spPr>
        <p:txBody>
          <a:bodyPr rtlCol="0" anchor="b">
            <a:normAutofit/>
          </a:bodyPr>
          <a:lstStyle>
            <a:lvl1pPr algn="l">
              <a:lnSpc>
                <a:spcPct val="75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3956180"/>
            <a:ext cx="6858000" cy="109728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920651-EC82-42A7-8C94-8A27562F94BA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/>
              <a:t>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3194172B-C8C4-4E3C-8C3A-989B0AD07D73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822960"/>
            <a:ext cx="8686800" cy="2011680"/>
          </a:xfrm>
        </p:spPr>
        <p:txBody>
          <a:bodyPr rtlCol="0" anchor="b">
            <a:normAutofit/>
          </a:bodyPr>
          <a:lstStyle>
            <a:lvl1pPr>
              <a:defRPr sz="66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609600" y="2834640"/>
            <a:ext cx="8686800" cy="109728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4572000" cy="448056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fr-FR"/>
              <a:t>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781800" y="1981200"/>
            <a:ext cx="4572000" cy="448056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fr-FR"/>
              <a:t>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5F1D0A-D38E-45C1-8A15-9FBE0A2C641C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81200" y="1679448"/>
            <a:ext cx="4572000" cy="830487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981200" y="2509935"/>
            <a:ext cx="4572000" cy="396706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/>
              <a:t>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781800" y="1679448"/>
            <a:ext cx="4572000" cy="830487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781800" y="2509935"/>
            <a:ext cx="4572000" cy="396706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/>
              <a:t>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C7779B-CE3F-4421-9332-8B48EAB0EACF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9" name="Espace réservé du numéro de diapositive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11E913-B337-43C0-9FE9-70D90C47FA0D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D35923-0D08-4DE7-A462-EAD4CD322F90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4" name="Espace réservé du numéro de diapositive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rtlCol="0" anchor="b">
            <a:noAutofit/>
          </a:bodyPr>
          <a:lstStyle>
            <a:lvl1pPr>
              <a:defRPr sz="44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6491" y="381000"/>
            <a:ext cx="5489510" cy="5791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/>
              <a:t>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937" cy="18288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3CD290-E895-45EA-BAEC-52286578A493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rtlCol="0" anchor="b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’image 2" descr="Espace réservé vide pour ajouter une image. Cliquez sur l’espace réservé et sélectionnez l’image à ajouter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 tIns="4572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140" cy="18288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12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/>
              <a:t>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BDA4A4-32F0-40E9-8573-8D1D02922FC3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9342120" y="380999"/>
            <a:ext cx="2011680" cy="6096001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981199" y="380999"/>
            <a:ext cx="7074859" cy="6096001"/>
          </a:xfrm>
        </p:spPr>
        <p:txBody>
          <a:bodyPr vert="eaVert" rtlCol="0"/>
          <a:lstStyle/>
          <a:p>
            <a:pPr lvl="0" rtl="0"/>
            <a:r>
              <a:rPr lang="fr-FR"/>
              <a:t>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17DFBB-9AC8-416A-9536-607C4D18AAF0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dirty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981200" y="1987419"/>
            <a:ext cx="9372600" cy="4483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11631790" y="5586761"/>
            <a:ext cx="280731" cy="883759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62369657-7E4F-4CD5-A3FB-0207A41F1654}" type="datetime1">
              <a:rPr lang="fr-FR" smtClean="0"/>
              <a:t>16/09/2026</a:t>
            </a:fld>
            <a:endParaRPr lang="fr-FR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3"/>
          </p:nvPr>
        </p:nvSpPr>
        <p:spPr>
          <a:xfrm>
            <a:off x="11631790" y="365125"/>
            <a:ext cx="280730" cy="5139936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fr-FR" dirty="0"/>
              <a:t>Ajouter un pied de page</a:t>
            </a:r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4"/>
          </p:nvPr>
        </p:nvSpPr>
        <p:spPr>
          <a:xfrm>
            <a:off x="313321" y="6268940"/>
            <a:ext cx="722377" cy="201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90000"/>
        </a:lnSpc>
        <a:spcBef>
          <a:spcPts val="12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dirty="0"/>
              <a:t>Didactique du numérique</a:t>
            </a:r>
          </a:p>
        </p:txBody>
      </p:sp>
      <p:sp>
        <p:nvSpPr>
          <p:cNvPr id="3" name="Sous-titre 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 dirty="0">
                <a:solidFill>
                  <a:schemeClr val="bg1"/>
                </a:solidFill>
              </a:rPr>
              <a:t>M1 MATH-NUM</a:t>
            </a:r>
          </a:p>
        </p:txBody>
      </p:sp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F00199F-E4F9-AA03-CCDE-27CA52D4D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093" y="1817550"/>
            <a:ext cx="5032548" cy="44831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46469E9-70E0-4966-BAB1-5EA4EEC5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référentiel FMTTN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EDEF6B-D0AB-401D-BF75-FBE1D959E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530" y="2374898"/>
            <a:ext cx="5896167" cy="4483101"/>
          </a:xfrm>
        </p:spPr>
        <p:txBody>
          <a:bodyPr/>
          <a:lstStyle/>
          <a:p>
            <a:r>
              <a:rPr lang="fr-FR" dirty="0"/>
              <a:t>Le référentiel s’organise autour de </a:t>
            </a:r>
            <a:r>
              <a:rPr lang="fr-FR" b="1" dirty="0"/>
              <a:t>deux grands volets complémentaires</a:t>
            </a:r>
            <a:r>
              <a:rPr lang="fr-FR" dirty="0"/>
              <a:t> :</a:t>
            </a:r>
          </a:p>
          <a:p>
            <a:pPr marL="0" indent="0">
              <a:buNone/>
            </a:pPr>
            <a:r>
              <a:rPr lang="fr-FR" b="1" dirty="0"/>
              <a:t>FMTT</a:t>
            </a:r>
            <a:br>
              <a:rPr lang="fr-FR" dirty="0"/>
            </a:br>
            <a:r>
              <a:rPr lang="fr-FR" dirty="0"/>
              <a:t>Formation manuelle, technique et technologique</a:t>
            </a:r>
          </a:p>
          <a:p>
            <a:pPr marL="0" indent="0">
              <a:buNone/>
            </a:pPr>
            <a:r>
              <a:rPr lang="fr-FR" b="1" dirty="0"/>
              <a:t>NUMÉRIQUE</a:t>
            </a:r>
            <a:br>
              <a:rPr lang="fr-FR" dirty="0"/>
            </a:br>
            <a:r>
              <a:rPr lang="fr-FR" dirty="0"/>
              <a:t>Formation au numérique</a:t>
            </a:r>
          </a:p>
        </p:txBody>
      </p:sp>
    </p:spTree>
    <p:extLst>
      <p:ext uri="{BB962C8B-B14F-4D97-AF65-F5344CB8AC3E}">
        <p14:creationId xmlns:p14="http://schemas.microsoft.com/office/powerpoint/2010/main" val="26286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B1FAE2-C5A8-F054-7FB1-1DD783CE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Savoirs, savoir-faire, compétences,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F57FE7-256E-6351-DE54-1C17DD378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Les savoirs</a:t>
            </a:r>
          </a:p>
          <a:p>
            <a:pPr marL="0" indent="0">
              <a:buNone/>
            </a:pPr>
            <a:r>
              <a:rPr lang="fr-FR" dirty="0"/>
              <a:t>Les savoirs correspondent aux </a:t>
            </a:r>
            <a:r>
              <a:rPr lang="fr-FR" b="1" dirty="0"/>
              <a:t>connaissances</a:t>
            </a:r>
            <a:r>
              <a:rPr lang="fr-FR" dirty="0"/>
              <a:t> que l’élève doit acquérir. Ils peuvent concerner :</a:t>
            </a:r>
          </a:p>
          <a:p>
            <a:pPr lvl="0"/>
            <a:r>
              <a:rPr lang="fr-FR" dirty="0"/>
              <a:t>des concepts ; </a:t>
            </a:r>
          </a:p>
          <a:p>
            <a:pPr lvl="0"/>
            <a:r>
              <a:rPr lang="fr-FR" dirty="0"/>
              <a:t>des notions ; </a:t>
            </a:r>
          </a:p>
          <a:p>
            <a:pPr lvl="0"/>
            <a:r>
              <a:rPr lang="fr-FR" dirty="0"/>
              <a:t>des principes ; </a:t>
            </a:r>
          </a:p>
          <a:p>
            <a:pPr lvl="0"/>
            <a:r>
              <a:rPr lang="fr-FR" dirty="0"/>
              <a:t>des règles ; </a:t>
            </a:r>
          </a:p>
          <a:p>
            <a:pPr lvl="0"/>
            <a:r>
              <a:rPr lang="fr-FR" dirty="0"/>
              <a:t>du vocabulaire ; </a:t>
            </a:r>
          </a:p>
          <a:p>
            <a:pPr lvl="0"/>
            <a:r>
              <a:rPr lang="fr-FR" dirty="0"/>
              <a:t>des caractéristiques techniques.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598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E5E2-C105-8670-06A7-31AB94C7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765941-D3A2-2385-FB7C-4B11E3F46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Savoirs, savoir-faire, compétences,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13B9E2-6B6C-25C4-A2A9-E0E6A851E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93899"/>
            <a:ext cx="9372600" cy="44831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/>
              <a:t>Les savoir-faire</a:t>
            </a:r>
          </a:p>
          <a:p>
            <a:pPr marL="0" indent="0">
              <a:buNone/>
            </a:pPr>
            <a:r>
              <a:rPr lang="fr-FR" dirty="0"/>
              <a:t>Les savoir-faire correspondent à ce que l’élève est capable de </a:t>
            </a:r>
            <a:r>
              <a:rPr lang="fr-FR" b="1" dirty="0"/>
              <a:t>mettre en œuvre</a:t>
            </a:r>
            <a:r>
              <a:rPr lang="fr-FR" dirty="0"/>
              <a:t>. Ils concernent l’action et la maîtrise de procédures ou de techniques.</a:t>
            </a:r>
          </a:p>
          <a:p>
            <a:pPr marL="0" indent="0">
              <a:buNone/>
            </a:pPr>
            <a:r>
              <a:rPr lang="fr-FR" b="1" dirty="0"/>
              <a:t>Exemples :</a:t>
            </a:r>
            <a:endParaRPr lang="fr-FR" dirty="0"/>
          </a:p>
          <a:p>
            <a:pPr lvl="0"/>
            <a:r>
              <a:rPr lang="fr-FR" dirty="0"/>
              <a:t>utiliser un tournevis ; </a:t>
            </a:r>
          </a:p>
          <a:p>
            <a:pPr lvl="0"/>
            <a:r>
              <a:rPr lang="fr-FR" dirty="0"/>
              <a:t>démonter un ordinateur ; </a:t>
            </a:r>
          </a:p>
          <a:p>
            <a:pPr lvl="0"/>
            <a:r>
              <a:rPr lang="fr-FR" dirty="0"/>
              <a:t>organiser des fichiers ; </a:t>
            </a:r>
          </a:p>
          <a:p>
            <a:pPr lvl="0"/>
            <a:r>
              <a:rPr lang="fr-FR" dirty="0"/>
              <a:t>réaliser une recherche efficace ; </a:t>
            </a:r>
          </a:p>
          <a:p>
            <a:pPr lvl="0"/>
            <a:r>
              <a:rPr lang="fr-FR" dirty="0"/>
              <a:t>utiliser une fonction d’un logiciel. </a:t>
            </a:r>
          </a:p>
          <a:p>
            <a:pPr marL="0" indent="0">
              <a:buNone/>
            </a:pPr>
            <a:r>
              <a:rPr lang="fr-FR" dirty="0"/>
              <a:t>Les savoir-faire sont généralement formulés avec des </a:t>
            </a:r>
            <a:r>
              <a:rPr lang="fr-FR" b="1" dirty="0"/>
              <a:t>verbes d’action</a:t>
            </a:r>
            <a:r>
              <a:rPr lang="fr-FR" dirty="0"/>
              <a:t> et peuvent être observés.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5869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4C8A1-10B2-19FA-900F-CFD94D0D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F113CB-945B-EB21-623D-62980F72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Savoirs, savoir-faire, compétences,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891A4C-1EA8-41FF-786C-CF400FF69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93899"/>
            <a:ext cx="9372600" cy="4483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La compétence</a:t>
            </a:r>
          </a:p>
          <a:p>
            <a:pPr marL="0" indent="0">
              <a:buNone/>
            </a:pPr>
            <a:r>
              <a:rPr lang="fr-FR" dirty="0"/>
              <a:t>La compétence dépasse la simple addition de savoirs et de savoir-faire.</a:t>
            </a:r>
          </a:p>
          <a:p>
            <a:pPr marL="0" indent="0">
              <a:buNone/>
            </a:pPr>
            <a:r>
              <a:rPr lang="fr-FR" dirty="0"/>
              <a:t>Elle correspond à la capacité à :</a:t>
            </a:r>
          </a:p>
          <a:p>
            <a:r>
              <a:rPr lang="fr-FR" b="1" dirty="0"/>
              <a:t>MOBILISER</a:t>
            </a:r>
            <a:endParaRPr lang="fr-FR" dirty="0"/>
          </a:p>
          <a:p>
            <a:r>
              <a:rPr lang="fr-FR" b="1" dirty="0"/>
              <a:t>COMBINER</a:t>
            </a:r>
            <a:endParaRPr lang="fr-FR" dirty="0"/>
          </a:p>
          <a:p>
            <a:r>
              <a:rPr lang="fr-FR" b="1" dirty="0"/>
              <a:t>ADAPTER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différentes ressources pour agir de manière </a:t>
            </a:r>
            <a:r>
              <a:rPr lang="fr-FR" b="1" dirty="0"/>
              <a:t>pertinente dans une situation donnée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2374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3BE4-5106-E9F3-0326-A111253D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891AE-1F46-0BE4-BCA7-A13123DC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C03B9C-21B4-A3C4-4F7D-FEF8AB89B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93899"/>
            <a:ext cx="9372600" cy="4483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attendus précisent concrètement ce que l’on attend de l’élève au terme d’un apprentissage.</a:t>
            </a:r>
          </a:p>
          <a:p>
            <a:pPr marL="0" indent="0">
              <a:buNone/>
            </a:pPr>
            <a:r>
              <a:rPr lang="fr-FR" dirty="0"/>
              <a:t>Ils indiquent ce que l’élève doit être capable de :</a:t>
            </a:r>
          </a:p>
          <a:p>
            <a:pPr lvl="0"/>
            <a:r>
              <a:rPr lang="fr-FR" b="1" dirty="0"/>
              <a:t>faire</a:t>
            </a:r>
            <a:r>
              <a:rPr lang="fr-FR" dirty="0"/>
              <a:t> ; </a:t>
            </a:r>
          </a:p>
          <a:p>
            <a:pPr lvl="0"/>
            <a:r>
              <a:rPr lang="fr-FR" b="1" dirty="0"/>
              <a:t>mobiliser</a:t>
            </a:r>
            <a:r>
              <a:rPr lang="fr-FR" dirty="0"/>
              <a:t> ; </a:t>
            </a:r>
          </a:p>
          <a:p>
            <a:pPr lvl="0"/>
            <a:r>
              <a:rPr lang="fr-FR" b="1" dirty="0"/>
              <a:t>démontrer</a:t>
            </a:r>
            <a:r>
              <a:rPr lang="fr-FR" dirty="0"/>
              <a:t>. </a:t>
            </a:r>
          </a:p>
          <a:p>
            <a:pPr marL="0" indent="0">
              <a:buNone/>
            </a:pPr>
            <a:r>
              <a:rPr lang="fr-FR" dirty="0"/>
              <a:t>Ils sont donc essentiels pour :</a:t>
            </a:r>
          </a:p>
          <a:p>
            <a:pPr marL="0" indent="0">
              <a:buNone/>
            </a:pPr>
            <a:r>
              <a:rPr lang="fr-FR" b="1" dirty="0"/>
              <a:t>Préparer → Enseigner → Observer → Évaluer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5836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AA9F0-F45F-7ABB-CFB0-E4836947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C56703-B6F1-928D-CDB4-B438C3D89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8DC9AE-31FE-04B3-3EF0-B1D4129FE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86" y="381000"/>
            <a:ext cx="10744190" cy="653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5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883142-1357-7048-DE8B-1512370A1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logique du référentiel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BD8CB9-98E2-BE98-ED04-13EEFA453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/>
              <a:t>ATTENDU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↓</a:t>
            </a:r>
          </a:p>
          <a:p>
            <a:pPr marL="0" indent="0">
              <a:buNone/>
            </a:pPr>
            <a:r>
              <a:rPr lang="fr-FR" dirty="0"/>
              <a:t>Quel apprentissage faut-il construire ?</a:t>
            </a:r>
          </a:p>
          <a:p>
            <a:pPr marL="0" indent="0">
              <a:buNone/>
            </a:pPr>
            <a:r>
              <a:rPr lang="fr-FR" dirty="0"/>
              <a:t>↓</a:t>
            </a:r>
          </a:p>
          <a:p>
            <a:pPr marL="0" indent="0">
              <a:buNone/>
            </a:pPr>
            <a:r>
              <a:rPr lang="fr-FR" b="1" dirty="0"/>
              <a:t>SITUATION D’APPRENTISSAGE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↓</a:t>
            </a:r>
          </a:p>
          <a:p>
            <a:pPr marL="0" indent="0">
              <a:buNone/>
            </a:pPr>
            <a:r>
              <a:rPr lang="fr-FR" dirty="0"/>
              <a:t>Quelles ressources l’élève doit-il mobiliser ?</a:t>
            </a:r>
          </a:p>
          <a:p>
            <a:pPr marL="0" indent="0">
              <a:buNone/>
            </a:pPr>
            <a:r>
              <a:rPr lang="fr-FR" dirty="0"/>
              <a:t>↓</a:t>
            </a:r>
          </a:p>
          <a:p>
            <a:pPr marL="0" indent="0">
              <a:buNone/>
            </a:pPr>
            <a:r>
              <a:rPr lang="fr-FR" b="1" dirty="0"/>
              <a:t>SAVOIRS + SAVOIR-FAIRE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↓</a:t>
            </a:r>
          </a:p>
          <a:p>
            <a:pPr marL="0" indent="0">
              <a:buNone/>
            </a:pPr>
            <a:r>
              <a:rPr lang="fr-FR" b="1" dirty="0"/>
              <a:t>COMPÉTENCE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731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AFACFC-95B0-D187-3AE6-EF0DB37F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quatre champs d’apprentissage du numérique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7BAABF-0399-CFFD-32D5-43B5AF220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volet numérique du référentiel FMTTN s’organise autour de </a:t>
            </a:r>
            <a:r>
              <a:rPr lang="fr-FR" b="1" dirty="0"/>
              <a:t>4 grands champs</a:t>
            </a:r>
            <a:r>
              <a:rPr lang="fr-FR" dirty="0"/>
              <a:t> :</a:t>
            </a:r>
          </a:p>
          <a:p>
            <a:r>
              <a:rPr lang="fr-FR" b="1" dirty="0"/>
              <a:t>INFORMATIONS &amp; DONNÉES</a:t>
            </a:r>
            <a:br>
              <a:rPr lang="fr-FR" dirty="0"/>
            </a:br>
            <a:r>
              <a:rPr lang="fr-FR" dirty="0"/>
              <a:t>→ S’informer</a:t>
            </a:r>
          </a:p>
          <a:p>
            <a:r>
              <a:rPr lang="fr-FR" b="1" dirty="0"/>
              <a:t>COMMUNICATION &amp; COLLABORATION</a:t>
            </a:r>
            <a:br>
              <a:rPr lang="fr-FR" dirty="0"/>
            </a:br>
            <a:r>
              <a:rPr lang="fr-FR" dirty="0"/>
              <a:t>→ Interagir</a:t>
            </a:r>
          </a:p>
          <a:p>
            <a:r>
              <a:rPr lang="fr-FR" b="1" dirty="0"/>
              <a:t>CRÉATION DE CONTENUS</a:t>
            </a:r>
            <a:br>
              <a:rPr lang="fr-FR" dirty="0"/>
            </a:br>
            <a:r>
              <a:rPr lang="fr-FR" dirty="0"/>
              <a:t>→ Produire</a:t>
            </a:r>
          </a:p>
          <a:p>
            <a:r>
              <a:rPr lang="fr-FR" b="1" dirty="0"/>
              <a:t>SÉCURITÉ</a:t>
            </a:r>
            <a:br>
              <a:rPr lang="fr-FR" dirty="0"/>
            </a:br>
            <a:r>
              <a:rPr lang="fr-FR" dirty="0"/>
              <a:t>→ Se protéger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747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1EDEA-8F8C-46D7-CE7C-8C980546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 champs… mais pas 4 domaines isolés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407C7-9289-B787-1367-04B33D2BC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Les quatre champs sont </a:t>
            </a:r>
            <a:r>
              <a:rPr lang="fr-FR" b="1" dirty="0"/>
              <a:t>complémentaires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Une même activité peut mobiliser plusieurs champs simultanément.</a:t>
            </a:r>
          </a:p>
          <a:p>
            <a:pPr marL="0" indent="0">
              <a:buNone/>
            </a:pPr>
            <a:r>
              <a:rPr lang="fr-FR" b="1" dirty="0"/>
              <a:t>Exemple : créer une vidéo pour sensibiliser au cyberharcèlement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→ rechercher des informations</a:t>
            </a:r>
            <a:br>
              <a:rPr lang="fr-FR" dirty="0"/>
            </a:br>
            <a:r>
              <a:rPr lang="fr-FR" dirty="0"/>
              <a:t>→ collaborer</a:t>
            </a:r>
            <a:br>
              <a:rPr lang="fr-FR" dirty="0"/>
            </a:br>
            <a:r>
              <a:rPr lang="fr-FR" dirty="0"/>
              <a:t>→ créer une vidéo</a:t>
            </a:r>
            <a:br>
              <a:rPr lang="fr-FR" dirty="0"/>
            </a:br>
            <a:r>
              <a:rPr lang="fr-FR" dirty="0"/>
              <a:t>→ respecter les règles de sécurité et de droit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437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227AD2-3919-4E29-41DC-CD628875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de contenus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2AFFE8-E87A-5E38-8F9F-1606814AB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L’élève n’est plus seulement </a:t>
            </a:r>
            <a:r>
              <a:rPr lang="fr-FR" b="1" dirty="0"/>
              <a:t>consommateur</a:t>
            </a:r>
            <a:r>
              <a:rPr lang="fr-FR" dirty="0"/>
              <a:t> de contenus. Il devient également </a:t>
            </a:r>
            <a:r>
              <a:rPr lang="fr-FR" b="1" dirty="0"/>
              <a:t>producteur</a:t>
            </a:r>
            <a:r>
              <a:rPr lang="fr-FR" dirty="0"/>
              <a:t>.</a:t>
            </a:r>
          </a:p>
          <a:p>
            <a:r>
              <a:rPr lang="fr-FR" dirty="0"/>
              <a:t>Il peut créer :</a:t>
            </a:r>
          </a:p>
          <a:p>
            <a:pPr lvl="0"/>
            <a:r>
              <a:rPr lang="fr-FR" dirty="0"/>
              <a:t>des textes ; </a:t>
            </a:r>
          </a:p>
          <a:p>
            <a:pPr lvl="0"/>
            <a:r>
              <a:rPr lang="fr-FR" dirty="0"/>
              <a:t>des images ; </a:t>
            </a:r>
          </a:p>
          <a:p>
            <a:pPr lvl="0"/>
            <a:r>
              <a:rPr lang="fr-FR" dirty="0"/>
              <a:t>des présentations ; </a:t>
            </a:r>
          </a:p>
          <a:p>
            <a:pPr lvl="0"/>
            <a:r>
              <a:rPr lang="fr-FR" dirty="0"/>
              <a:t>des sons ; </a:t>
            </a:r>
          </a:p>
          <a:p>
            <a:pPr lvl="0"/>
            <a:r>
              <a:rPr lang="fr-FR" dirty="0"/>
              <a:t>des vidéos ; </a:t>
            </a:r>
          </a:p>
          <a:p>
            <a:pPr lvl="0"/>
            <a:r>
              <a:rPr lang="fr-FR" dirty="0"/>
              <a:t>des productions interactives.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371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828EDB-6DCE-AE83-2B9B-DAAF2DCCE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Créer ≠ maîtriser un logiciel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4314AA-39E4-7095-EBA4-397ED3759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La compétence ne consiste pas uniquement à connaître les fonctionnalités d’un outil. L’élève doit pouvoir concevoir une production en fonction :</a:t>
            </a:r>
          </a:p>
          <a:p>
            <a:r>
              <a:rPr lang="fr-FR" b="1" dirty="0"/>
              <a:t>d’un objectif</a:t>
            </a:r>
            <a:endParaRPr lang="fr-FR" dirty="0"/>
          </a:p>
          <a:p>
            <a:r>
              <a:rPr lang="fr-FR" b="1" dirty="0"/>
              <a:t>d’un destinataire</a:t>
            </a:r>
            <a:endParaRPr lang="fr-FR" dirty="0"/>
          </a:p>
          <a:p>
            <a:r>
              <a:rPr lang="fr-FR" b="1" dirty="0"/>
              <a:t>de contraintes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↓</a:t>
            </a:r>
          </a:p>
          <a:p>
            <a:pPr marL="0" indent="0">
              <a:buNone/>
            </a:pPr>
            <a:r>
              <a:rPr lang="fr-FR" b="1" dirty="0"/>
              <a:t>Choix pertinents des médias et des outils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049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0A0CA-BC36-DBDA-47A2-D056D419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Logique de progression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7A9D62-6355-1BA1-0E66-581D219A4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73" y="2657979"/>
            <a:ext cx="3914502" cy="44831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Le référentiel FMTTN organise les apprentissages numériques selon une logique de progression. Les compétences ne sont pas considérées comme acquises après une seule activité : elles sont travaillées sur plusieurs années et deviennent progressivement plus complexes. Cette progression concerne à la fois les connaissances mobilisées, la difficulté des tâches, la variété des situations rencontrées et le degré d'autonomie laissé à l'élève.</a:t>
            </a:r>
          </a:p>
          <a:p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FE8EA3-0721-B44A-AD04-8F7CBB01B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486" y="2657979"/>
            <a:ext cx="6673332" cy="316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9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CE947-9DFB-6EB2-90EB-E19EDC30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Une progression spiralaire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23E8D7-345B-2FE3-F01E-8EE36EE3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La progression des apprentissages numériques repose sur une </a:t>
            </a:r>
            <a:r>
              <a:rPr lang="fr-FR" b="1" dirty="0"/>
              <a:t>logique spiralaire</a:t>
            </a:r>
            <a:r>
              <a:rPr lang="fr-FR" dirty="0"/>
              <a:t>. Une compétence n’est pas apprise une fois pour toutes. Elle est </a:t>
            </a:r>
            <a:r>
              <a:rPr lang="fr-FR" b="1" dirty="0"/>
              <a:t>réinvestie plusieurs fois</a:t>
            </a:r>
            <a:r>
              <a:rPr lang="fr-FR" dirty="0"/>
              <a:t>, avec un niveau d’exigence progressivement plus élevé.</a:t>
            </a:r>
          </a:p>
          <a:p>
            <a:pPr marL="0" indent="0">
              <a:buNone/>
            </a:pPr>
            <a:r>
              <a:rPr lang="fr-FR" b="1" dirty="0"/>
              <a:t>Revenir… mais autrement</a:t>
            </a:r>
          </a:p>
          <a:p>
            <a:pPr marL="0" indent="0">
              <a:buNone/>
            </a:pPr>
            <a:r>
              <a:rPr lang="fr-FR" dirty="0"/>
              <a:t>Une progression spiralaire ne consiste pas à refaire exactement la même activité. À chaque nouvelle rencontre avec la compétence, on peut faire évoluer :</a:t>
            </a:r>
          </a:p>
          <a:p>
            <a:pPr lvl="0"/>
            <a:r>
              <a:rPr lang="fr-FR" dirty="0"/>
              <a:t>le </a:t>
            </a:r>
            <a:r>
              <a:rPr lang="fr-FR" b="1" dirty="0"/>
              <a:t>contexte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la </a:t>
            </a:r>
            <a:r>
              <a:rPr lang="fr-FR" b="1" dirty="0"/>
              <a:t>complexité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les </a:t>
            </a:r>
            <a:r>
              <a:rPr lang="fr-FR" b="1" dirty="0"/>
              <a:t>ressources mobilisées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le degré d’</a:t>
            </a:r>
            <a:r>
              <a:rPr lang="fr-FR" b="1" dirty="0"/>
              <a:t>autonomie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le niveau de </a:t>
            </a:r>
            <a:r>
              <a:rPr lang="fr-FR" b="1" dirty="0"/>
              <a:t>réflexion</a:t>
            </a:r>
            <a:r>
              <a:rPr lang="fr-FR" dirty="0"/>
              <a:t> attendu.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136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47BB91-2E39-3B7A-6E6D-F07D4A852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méthodologies pédagogiques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9341CF-3633-1388-1A2C-68898B58B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75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511AC-B4AE-6DC2-53D0-0335E74EE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L’émergence du numérique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871FA3-011F-2BAC-6E3E-885D5B04D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numérique transforme profondément notre rapport :</a:t>
            </a:r>
          </a:p>
          <a:p>
            <a:r>
              <a:rPr lang="fr-FR" b="1" dirty="0"/>
              <a:t>À l’information</a:t>
            </a:r>
            <a:br>
              <a:rPr lang="fr-FR" dirty="0"/>
            </a:br>
            <a:r>
              <a:rPr lang="fr-FR" dirty="0"/>
              <a:t>→ accès massif et instantané</a:t>
            </a:r>
          </a:p>
          <a:p>
            <a:r>
              <a:rPr lang="fr-FR" b="1" dirty="0"/>
              <a:t>Aux savoirs</a:t>
            </a:r>
            <a:br>
              <a:rPr lang="fr-FR" dirty="0"/>
            </a:br>
            <a:r>
              <a:rPr lang="fr-FR" dirty="0"/>
              <a:t>→ multiplication des sources</a:t>
            </a:r>
          </a:p>
          <a:p>
            <a:r>
              <a:rPr lang="fr-FR" b="1" dirty="0"/>
              <a:t>Aux apprentissages</a:t>
            </a:r>
            <a:br>
              <a:rPr lang="fr-FR" dirty="0"/>
            </a:br>
            <a:r>
              <a:rPr lang="fr-FR" dirty="0"/>
              <a:t>→ nouvelles manières d’apprendre</a:t>
            </a:r>
          </a:p>
          <a:p>
            <a:pPr marL="0" indent="0">
              <a:buNone/>
            </a:pPr>
            <a:r>
              <a:rPr lang="fr-FR" dirty="0"/>
              <a:t>La transformation numérique ne concerne donc pas seulement </a:t>
            </a:r>
            <a:r>
              <a:rPr lang="fr-FR" b="1" dirty="0"/>
              <a:t>ce que l’on enseigne</a:t>
            </a:r>
            <a:r>
              <a:rPr lang="fr-FR" dirty="0"/>
              <a:t>, mais aussi </a:t>
            </a:r>
            <a:r>
              <a:rPr lang="fr-FR" b="1" dirty="0"/>
              <a:t>la manière dont on enseigne et dont on apprend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978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9F475-78B3-1F76-5159-B3B73C366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l’enseignant transmetteur à l’enseignant accompagnateur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12675F-951B-52D3-73E9-6F9286F5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/>
              <a:t>Modèle traditionnel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Enseignant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b="1" dirty="0"/>
              <a:t>Transmission des savoirs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Élève</a:t>
            </a:r>
          </a:p>
          <a:p>
            <a:pPr marL="0" indent="0">
              <a:buNone/>
            </a:pPr>
            <a:r>
              <a:rPr lang="fr-FR" dirty="0"/>
              <a:t>L’enseignant constitue une source privilégiée de connaissances.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Avec le numérique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L’information devient </a:t>
            </a:r>
            <a:r>
              <a:rPr lang="fr-FR" b="1" dirty="0"/>
              <a:t>accessible partout et rapidement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Le rôle de l’enseignant évolue vers :</a:t>
            </a:r>
          </a:p>
          <a:p>
            <a:pPr marL="0" indent="0">
              <a:buNone/>
            </a:pPr>
            <a:r>
              <a:rPr lang="fr-FR" b="1" dirty="0"/>
              <a:t>Médiateur · Accompagnateur · Concepteur de situations d’apprentissage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L’enjeu n’est plus seulement de </a:t>
            </a:r>
            <a:r>
              <a:rPr lang="fr-FR" b="1" dirty="0"/>
              <a:t>transmettre l’information</a:t>
            </a:r>
            <a:r>
              <a:rPr lang="fr-FR" dirty="0"/>
              <a:t>, mais d’aider l’élève à </a:t>
            </a:r>
            <a:r>
              <a:rPr lang="fr-FR" b="1" dirty="0"/>
              <a:t>la comprendre, l’évaluer et la mobiliser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411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1017BF-90B0-291E-BC5A-B3DD45C2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Méthodologies innovantes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DA8B2D-59D8-8C0F-B346-DC55E2898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L’étudiant contemporain a de plus en plus de difficultés à rester assis sur sa chaise à écouter l’enseignant pendant des heures</a:t>
            </a:r>
          </a:p>
          <a:p>
            <a:endParaRPr lang="fr-FR" dirty="0"/>
          </a:p>
          <a:p>
            <a:r>
              <a:rPr lang="fr-FR" dirty="0"/>
              <a:t>Utiliser des méthodologies plus innovantes, actives et interactives</a:t>
            </a:r>
          </a:p>
          <a:p>
            <a:endParaRPr lang="fr-FR" dirty="0"/>
          </a:p>
          <a:p>
            <a:r>
              <a:rPr lang="fr-FR" dirty="0"/>
              <a:t>Voici quelques exemples dont vous pourrez vous inspirer :</a:t>
            </a:r>
          </a:p>
        </p:txBody>
      </p:sp>
    </p:spTree>
    <p:extLst>
      <p:ext uri="{BB962C8B-B14F-4D97-AF65-F5344CB8AC3E}">
        <p14:creationId xmlns:p14="http://schemas.microsoft.com/office/powerpoint/2010/main" val="109982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E28D-5DB1-9FAB-B9F2-A8C561AD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4E2CDF-C0E2-61F5-FE62-897DF5F9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situation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E3416B-730F-C35E-BF2E-28696227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L’étudiant contemporain a de plus en plus de difficultés à rester assis sur sa chaise à écouter l’enseignant pendant des heures</a:t>
            </a:r>
          </a:p>
          <a:p>
            <a:endParaRPr lang="fr-FR" dirty="0"/>
          </a:p>
          <a:p>
            <a:r>
              <a:rPr lang="fr-FR" dirty="0"/>
              <a:t>Utiliser des méthodologies plus innovantes, actives et interactives</a:t>
            </a:r>
          </a:p>
          <a:p>
            <a:endParaRPr lang="fr-FR" dirty="0"/>
          </a:p>
          <a:p>
            <a:r>
              <a:rPr lang="fr-FR" dirty="0"/>
              <a:t>Voici quelques exemples dont vous pourrez vous inspirer :</a:t>
            </a:r>
          </a:p>
        </p:txBody>
      </p:sp>
    </p:spTree>
    <p:extLst>
      <p:ext uri="{BB962C8B-B14F-4D97-AF65-F5344CB8AC3E}">
        <p14:creationId xmlns:p14="http://schemas.microsoft.com/office/powerpoint/2010/main" val="3906471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C49C-C448-ECA6-75C0-BB80B41E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59D5BC-8489-9225-63DD-A3A75688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situation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8A322E-F561-F3E9-F092-C6B2BA77B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Une situation qui donne du sens. </a:t>
            </a:r>
            <a:r>
              <a:rPr lang="fr-FR" dirty="0"/>
              <a:t>L’élève doit mobiliser différentes ressources :</a:t>
            </a:r>
          </a:p>
          <a:p>
            <a:pPr lvl="0"/>
            <a:r>
              <a:rPr lang="fr-FR" dirty="0"/>
              <a:t>ses </a:t>
            </a:r>
            <a:r>
              <a:rPr lang="fr-FR" b="1" dirty="0"/>
              <a:t>connaissances antérieures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des informations à rechercher ; </a:t>
            </a:r>
          </a:p>
          <a:p>
            <a:pPr lvl="0"/>
            <a:r>
              <a:rPr lang="fr-FR" dirty="0"/>
              <a:t>différentes stratégies ; </a:t>
            </a:r>
          </a:p>
          <a:p>
            <a:pPr lvl="0"/>
            <a:r>
              <a:rPr lang="fr-FR" dirty="0"/>
              <a:t>des outils numériques ; </a:t>
            </a:r>
          </a:p>
          <a:p>
            <a:pPr lvl="0"/>
            <a:r>
              <a:rPr lang="fr-FR" dirty="0"/>
              <a:t>les idées et propositions des autres.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Il doit </a:t>
            </a:r>
            <a:r>
              <a:rPr lang="fr-FR" b="1" dirty="0"/>
              <a:t>expérimenter, faire des choix et les justifier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L’apprentissage se construit à travers </a:t>
            </a:r>
            <a:r>
              <a:rPr lang="fr-FR" b="1" dirty="0"/>
              <a:t>l’activité de résolution du problème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2966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6AA31-D53C-2B63-DD06-2A30CA57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20C300-5894-EDDC-591B-3B9794D6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situation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A41D0F-AF03-73D3-1AE8-3AD50A92C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69705"/>
            <a:ext cx="4619897" cy="4483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Une inversion de la logique traditionnelle</a:t>
            </a:r>
          </a:p>
          <a:p>
            <a:pPr marL="0" indent="0">
              <a:buNone/>
            </a:pPr>
            <a:r>
              <a:rPr lang="fr-FR" sz="2000" b="1" dirty="0"/>
              <a:t>Approche transmissive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Présentation de l’outil</a:t>
            </a:r>
            <a:br>
              <a:rPr lang="fr-FR" sz="2000" dirty="0"/>
            </a:br>
            <a:r>
              <a:rPr lang="fr-FR" sz="2000" dirty="0"/>
              <a:t>↓</a:t>
            </a:r>
            <a:br>
              <a:rPr lang="fr-FR" sz="2000" dirty="0"/>
            </a:br>
            <a:r>
              <a:rPr lang="fr-FR" sz="2000" dirty="0"/>
              <a:t>Démonstration</a:t>
            </a:r>
            <a:br>
              <a:rPr lang="fr-FR" sz="2000" dirty="0"/>
            </a:br>
            <a:r>
              <a:rPr lang="fr-FR" sz="2000" dirty="0"/>
              <a:t>↓</a:t>
            </a:r>
            <a:br>
              <a:rPr lang="fr-FR" sz="2000" dirty="0"/>
            </a:br>
            <a:r>
              <a:rPr lang="fr-FR" sz="2000" dirty="0"/>
              <a:t>Exercice d’application</a:t>
            </a:r>
            <a:br>
              <a:rPr lang="fr-FR" sz="2000" dirty="0"/>
            </a:br>
            <a:r>
              <a:rPr lang="fr-FR" sz="2000" dirty="0"/>
              <a:t>↓</a:t>
            </a:r>
            <a:br>
              <a:rPr lang="fr-FR" sz="2000" dirty="0"/>
            </a:br>
            <a:r>
              <a:rPr lang="fr-FR" sz="2000" dirty="0"/>
              <a:t>Évaluation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F7D3BB6-4F60-2D9B-53FE-C5507DCDB93E}"/>
              </a:ext>
            </a:extLst>
          </p:cNvPr>
          <p:cNvSpPr txBox="1"/>
          <p:nvPr/>
        </p:nvSpPr>
        <p:spPr>
          <a:xfrm>
            <a:off x="7080069" y="2542069"/>
            <a:ext cx="395101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La logique de la situation-problème</a:t>
            </a:r>
          </a:p>
          <a:p>
            <a:r>
              <a:rPr lang="fr-FR" sz="2000" b="1" dirty="0"/>
              <a:t>Problème</a:t>
            </a:r>
            <a:endParaRPr lang="fr-FR" sz="2000" dirty="0"/>
          </a:p>
          <a:p>
            <a:r>
              <a:rPr lang="fr-FR" sz="2000" dirty="0"/>
              <a:t>↓</a:t>
            </a:r>
          </a:p>
          <a:p>
            <a:r>
              <a:rPr lang="fr-FR" sz="2000" dirty="0"/>
              <a:t>Recherche</a:t>
            </a:r>
          </a:p>
          <a:p>
            <a:r>
              <a:rPr lang="fr-FR" sz="2000" dirty="0"/>
              <a:t>↓</a:t>
            </a:r>
          </a:p>
          <a:p>
            <a:r>
              <a:rPr lang="fr-FR" sz="2000" dirty="0"/>
              <a:t>Hypothèses</a:t>
            </a:r>
          </a:p>
          <a:p>
            <a:r>
              <a:rPr lang="fr-FR" sz="2000" dirty="0"/>
              <a:t>↓</a:t>
            </a:r>
          </a:p>
          <a:p>
            <a:r>
              <a:rPr lang="fr-FR" sz="2000" dirty="0"/>
              <a:t>Expérimentation</a:t>
            </a:r>
          </a:p>
          <a:p>
            <a:r>
              <a:rPr lang="fr-FR" sz="2000" dirty="0"/>
              <a:t>↓</a:t>
            </a:r>
          </a:p>
          <a:p>
            <a:r>
              <a:rPr lang="fr-FR" sz="2000" dirty="0"/>
              <a:t>Résolution</a:t>
            </a:r>
          </a:p>
          <a:p>
            <a:r>
              <a:rPr lang="fr-FR" sz="2000" dirty="0"/>
              <a:t>↓</a:t>
            </a:r>
          </a:p>
          <a:p>
            <a:r>
              <a:rPr lang="fr-FR" sz="2000" dirty="0"/>
              <a:t>Formalisation des apprentissages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683320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1A6C03-5CE7-951C-DE11-FBE700A3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– situation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20A806-D573-8326-31B1-1759D6AF4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79733A-7E28-A223-EBFA-DA9354E56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894" y="2199861"/>
            <a:ext cx="400105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0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18973E-56C3-BA16-7279-456243D0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pédagogie par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419EC8-553E-CDD1-7C78-13BC42C2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L’ancrage dans le réel</a:t>
            </a:r>
            <a:br>
              <a:rPr lang="fr-FR" dirty="0"/>
            </a:br>
            <a:r>
              <a:rPr lang="fr-FR" dirty="0"/>
              <a:t>→ une finalité qui dépasse le simple exercice scolaire</a:t>
            </a:r>
          </a:p>
          <a:p>
            <a:r>
              <a:rPr lang="fr-FR" b="1" dirty="0"/>
              <a:t>La </a:t>
            </a:r>
            <a:r>
              <a:rPr lang="fr-FR" b="1" dirty="0" err="1"/>
              <a:t>coconstruction</a:t>
            </a:r>
            <a:br>
              <a:rPr lang="fr-FR" dirty="0"/>
            </a:br>
            <a:r>
              <a:rPr lang="fr-FR" dirty="0"/>
              <a:t>→ construire ensemble une réponse</a:t>
            </a:r>
          </a:p>
          <a:p>
            <a:r>
              <a:rPr lang="fr-FR" b="1" dirty="0"/>
              <a:t>La complémentarité</a:t>
            </a:r>
            <a:br>
              <a:rPr lang="fr-FR" dirty="0"/>
            </a:br>
            <a:r>
              <a:rPr lang="fr-FR" dirty="0"/>
              <a:t>→ mobiliser les compétences de chacun</a:t>
            </a:r>
          </a:p>
          <a:p>
            <a:r>
              <a:rPr lang="fr-FR" b="1" dirty="0"/>
              <a:t>L’autonomie</a:t>
            </a:r>
            <a:br>
              <a:rPr lang="fr-FR" dirty="0"/>
            </a:br>
            <a:r>
              <a:rPr lang="fr-FR" dirty="0"/>
              <a:t>→ planifier, organiser et réguler son travail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766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3769-F906-2B32-E8C8-AEF96423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90512-74D9-90A0-722F-B01A5A051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pédagogie par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2FD9D4-127B-C54C-C2EB-CCB099A94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L’enseignant ne disparaît pas. Il :</a:t>
            </a:r>
          </a:p>
          <a:p>
            <a:pPr lvl="0"/>
            <a:r>
              <a:rPr lang="fr-FR" dirty="0"/>
              <a:t>définit le </a:t>
            </a:r>
            <a:r>
              <a:rPr lang="fr-FR" b="1" dirty="0"/>
              <a:t>cadre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fixe les </a:t>
            </a:r>
            <a:r>
              <a:rPr lang="fr-FR" b="1" dirty="0"/>
              <a:t>objectifs d’apprentissage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accompagne les choix ; </a:t>
            </a:r>
          </a:p>
          <a:p>
            <a:pPr lvl="0"/>
            <a:r>
              <a:rPr lang="fr-FR" dirty="0"/>
              <a:t>fournit des </a:t>
            </a:r>
            <a:r>
              <a:rPr lang="fr-FR" b="1" dirty="0"/>
              <a:t>ressources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régule le travail ; </a:t>
            </a:r>
          </a:p>
          <a:p>
            <a:pPr lvl="0"/>
            <a:r>
              <a:rPr lang="fr-FR" dirty="0"/>
              <a:t>intervient lorsque cela est nécessaire.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 projet doit rester </a:t>
            </a:r>
            <a:r>
              <a:rPr lang="fr-FR" b="1" dirty="0"/>
              <a:t>au service des apprentissages</a:t>
            </a:r>
            <a:r>
              <a:rPr lang="fr-FR" dirty="0"/>
              <a:t> et ne pas devenir une simple activité occupationnelle.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914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708E9-85DF-A4DA-A95E-5B58CBD72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CF8B20-CD67-2C07-96A2-26807F93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pédagogie par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D879B0-A39E-0C74-7842-8EED63446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L’élève devient </a:t>
            </a:r>
            <a:r>
              <a:rPr lang="fr-FR" b="1" dirty="0"/>
              <a:t>acteur et responsable</a:t>
            </a:r>
            <a:r>
              <a:rPr lang="fr-FR" dirty="0"/>
              <a:t> d’une partie du processus. Il doit :</a:t>
            </a:r>
          </a:p>
          <a:p>
            <a:r>
              <a:rPr lang="fr-FR" b="1" dirty="0"/>
              <a:t>Planifier</a:t>
            </a:r>
            <a:endParaRPr lang="fr-FR" dirty="0"/>
          </a:p>
          <a:p>
            <a:r>
              <a:rPr lang="fr-FR" dirty="0"/>
              <a:t>→ </a:t>
            </a:r>
            <a:r>
              <a:rPr lang="fr-FR" b="1" dirty="0"/>
              <a:t>Rechercher</a:t>
            </a:r>
            <a:endParaRPr lang="fr-FR" dirty="0"/>
          </a:p>
          <a:p>
            <a:r>
              <a:rPr lang="fr-FR" dirty="0"/>
              <a:t>→ </a:t>
            </a:r>
            <a:r>
              <a:rPr lang="fr-FR" b="1" dirty="0"/>
              <a:t>Sélectionner</a:t>
            </a:r>
            <a:endParaRPr lang="fr-FR" dirty="0"/>
          </a:p>
          <a:p>
            <a:r>
              <a:rPr lang="fr-FR" dirty="0"/>
              <a:t>→ </a:t>
            </a:r>
            <a:r>
              <a:rPr lang="fr-FR" b="1" dirty="0"/>
              <a:t>Décider</a:t>
            </a:r>
            <a:endParaRPr lang="fr-FR" dirty="0"/>
          </a:p>
          <a:p>
            <a:r>
              <a:rPr lang="fr-FR" dirty="0"/>
              <a:t>→ </a:t>
            </a:r>
            <a:r>
              <a:rPr lang="fr-FR" b="1" dirty="0"/>
              <a:t>Expérimenter</a:t>
            </a:r>
            <a:endParaRPr lang="fr-FR" dirty="0"/>
          </a:p>
          <a:p>
            <a:r>
              <a:rPr lang="fr-FR" dirty="0"/>
              <a:t>→ </a:t>
            </a:r>
            <a:r>
              <a:rPr lang="fr-FR" b="1" dirty="0"/>
              <a:t>Résoudre les difficultés</a:t>
            </a:r>
            <a:endParaRPr lang="fr-FR" dirty="0"/>
          </a:p>
          <a:p>
            <a:r>
              <a:rPr lang="fr-FR" dirty="0"/>
              <a:t>→ </a:t>
            </a:r>
            <a:r>
              <a:rPr lang="fr-FR" b="1" dirty="0"/>
              <a:t>Adapter ses choix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6979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97E3-38AF-BDAE-D2FC-C297A856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AFF369-779F-356C-5E5C-F4F68120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pédagogie par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14CDF9-FAE4-E53C-77AF-CFB4217E2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/>
              <a:t>Production finale : c</a:t>
            </a:r>
            <a:r>
              <a:rPr lang="fr-FR" dirty="0"/>
              <a:t>e n’est donc pas uniquement le produit qui importe, mais </a:t>
            </a:r>
            <a:r>
              <a:rPr lang="fr-FR" b="1" dirty="0"/>
              <a:t>ce que l’élève a appris en le construisant</a:t>
            </a:r>
            <a:r>
              <a:rPr lang="fr-FR" dirty="0"/>
              <a:t>.</a:t>
            </a:r>
          </a:p>
          <a:p>
            <a:r>
              <a:rPr lang="fr-FR" dirty="0"/>
              <a:t>Le numérique offre de nombreuses possibilités de </a:t>
            </a:r>
            <a:r>
              <a:rPr lang="fr-FR" b="1" dirty="0"/>
              <a:t>création, collaboration et communication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Le numérique : objet ET moyen d’apprentissage</a:t>
            </a:r>
          </a:p>
          <a:p>
            <a:pPr marL="0" indent="0">
              <a:buNone/>
            </a:pPr>
            <a:r>
              <a:rPr lang="fr-FR" dirty="0"/>
              <a:t>Dans un projet numérique, le numérique peut être :</a:t>
            </a:r>
          </a:p>
          <a:p>
            <a:r>
              <a:rPr lang="fr-FR" b="1" dirty="0"/>
              <a:t>OBJET D’APPRENTISSAGE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→ apprendre à rechercher, créer, communiquer, programmer…</a:t>
            </a:r>
          </a:p>
          <a:p>
            <a:r>
              <a:rPr lang="fr-FR" b="1" dirty="0"/>
              <a:t>MOYEN DE RÉALISATION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→ utiliser le numérique pour produire, collaborer et communiquer.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8407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524C22-D49F-2978-5790-248900E1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Pédagogie par projet - Exercice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3807A-ADC9-E3B7-DFE2-40E81095E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254759-66F9-6DBD-F095-08FB2D497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944" y="2103650"/>
            <a:ext cx="4020111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EF0E5-7BFC-913F-C82A-2C39B573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138295-64C8-CDBB-38BE-4A0F155A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L’apprentissage par investigation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D87760-C0FF-6584-D153-00B233AB8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L’élève adopte une </a:t>
            </a:r>
            <a:r>
              <a:rPr lang="fr-FR" b="1" dirty="0"/>
              <a:t>démarche de recherche</a:t>
            </a:r>
            <a:r>
              <a:rPr lang="fr-FR" dirty="0"/>
              <a:t> pour construire progressivement ses connaissances.</a:t>
            </a:r>
          </a:p>
          <a:p>
            <a:pPr marL="0" indent="0">
              <a:buNone/>
            </a:pPr>
            <a:r>
              <a:rPr lang="fr-FR" b="1" dirty="0"/>
              <a:t>Observer → Questionner → Hypothétiser → Rechercher → Expérimenter → Conclure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L’objectif n’est pas de trouver immédiatement la bonne réponse, mais de construire une réponse argumentée.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9375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625DE-DAB7-8B76-A289-CF3AC205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57D0E-2F4E-D166-4CCC-9C2F4018F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L’apprentissage par investigation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A33B6F-718A-C599-BC21-3DB959E7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Le rôle de l’élève</a:t>
            </a:r>
          </a:p>
          <a:p>
            <a:r>
              <a:rPr lang="fr-FR" dirty="0"/>
              <a:t>L’élève adopte une </a:t>
            </a:r>
            <a:r>
              <a:rPr lang="fr-FR" b="1" dirty="0"/>
              <a:t>posture de chercheur</a:t>
            </a:r>
            <a:r>
              <a:rPr lang="fr-FR" dirty="0"/>
              <a:t>.</a:t>
            </a:r>
          </a:p>
          <a:p>
            <a:r>
              <a:rPr lang="fr-FR" dirty="0"/>
              <a:t>Il doit :</a:t>
            </a:r>
          </a:p>
          <a:p>
            <a:r>
              <a:rPr lang="fr-FR" b="1" dirty="0"/>
              <a:t>Questionner → Formuler des hypothèses → Rechercher → Expérimenter → Confronter → Justifier</a:t>
            </a:r>
            <a:endParaRPr lang="fr-FR" dirty="0"/>
          </a:p>
          <a:p>
            <a:r>
              <a:rPr lang="fr-FR" dirty="0"/>
              <a:t>Il apprend ainsi :</a:t>
            </a:r>
          </a:p>
          <a:p>
            <a:pPr lvl="0"/>
            <a:r>
              <a:rPr lang="fr-FR" dirty="0"/>
              <a:t>une </a:t>
            </a:r>
            <a:r>
              <a:rPr lang="fr-FR" b="1" dirty="0"/>
              <a:t>démarche de recherche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des </a:t>
            </a:r>
            <a:r>
              <a:rPr lang="fr-FR" b="1" dirty="0"/>
              <a:t>connaissances liées au sujet étudié</a:t>
            </a:r>
            <a:r>
              <a:rPr lang="fr-FR" dirty="0"/>
              <a:t> ; </a:t>
            </a:r>
          </a:p>
          <a:p>
            <a:pPr lvl="0"/>
            <a:r>
              <a:rPr lang="fr-FR" dirty="0"/>
              <a:t>à argumenter ses conclusions.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953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tructure de bâtiment 16x9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333_TF03031027.potx" id="{C9C9B5A1-0BDF-49FD-AEB4-0E0013DA60B8}" vid="{4156C93C-EFC3-4554-88B5-A78ACFE23E39}"/>
    </a:ext>
  </a:extLst>
</a:theme>
</file>

<file path=ppt/theme/theme2.xml><?xml version="1.0" encoding="utf-8"?>
<a:theme xmlns:a="http://schemas.openxmlformats.org/drawingml/2006/main" name="Thème Offic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30C5B9-1E5F-4356-968E-2FC64955BFF3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  <ds:schemaRef ds:uri="40262f94-9f35-4ac3-9a90-690165a166b7"/>
    <ds:schemaRef ds:uri="a4f35948-e619-41b3-aa29-22878b09cfd2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DD6EEDF-527A-4587-A446-F1DE3EAF9D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6DFB71-5650-4E53-8134-FCF33ECDD3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Structure de bâtiment (grand écran)</Template>
  <TotalTime>680</TotalTime>
  <Words>1239</Words>
  <Application>Microsoft Office PowerPoint</Application>
  <PresentationFormat>Grand écran</PresentationFormat>
  <Paragraphs>196</Paragraphs>
  <Slides>29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2" baseType="lpstr">
      <vt:lpstr>Arial</vt:lpstr>
      <vt:lpstr>Calibri</vt:lpstr>
      <vt:lpstr>Structure de bâtiment 16x9</vt:lpstr>
      <vt:lpstr>Didactique du numérique</vt:lpstr>
      <vt:lpstr>Le référentiel FMTTN</vt:lpstr>
      <vt:lpstr>Savoirs, savoir-faire, compétences, attendus</vt:lpstr>
      <vt:lpstr>Savoirs, savoir-faire, compétences, attendus</vt:lpstr>
      <vt:lpstr>Savoirs, savoir-faire, compétences, attendus</vt:lpstr>
      <vt:lpstr>Les attendus</vt:lpstr>
      <vt:lpstr>Présentation PowerPoint</vt:lpstr>
      <vt:lpstr>La logique du référentiel</vt:lpstr>
      <vt:lpstr>Les quatre champs d’apprentissage du numérique</vt:lpstr>
      <vt:lpstr>4 champs… mais pas 4 domaines isolés</vt:lpstr>
      <vt:lpstr>Création de contenus</vt:lpstr>
      <vt:lpstr>Créer ≠ maîtriser un logiciel</vt:lpstr>
      <vt:lpstr>Logique de progression</vt:lpstr>
      <vt:lpstr>Une progression spiralaire</vt:lpstr>
      <vt:lpstr>Les méthodologies pédagogiques</vt:lpstr>
      <vt:lpstr>L’émergence du numérique</vt:lpstr>
      <vt:lpstr>De l’enseignant transmetteur à l’enseignant accompagnateur</vt:lpstr>
      <vt:lpstr>Méthodologies innovantes</vt:lpstr>
      <vt:lpstr>La situation problème</vt:lpstr>
      <vt:lpstr>La situation problème</vt:lpstr>
      <vt:lpstr>La situation problème</vt:lpstr>
      <vt:lpstr>Exercice – situation problème</vt:lpstr>
      <vt:lpstr>La pédagogie par projet</vt:lpstr>
      <vt:lpstr>La pédagogie par projet</vt:lpstr>
      <vt:lpstr>La pédagogie par projet</vt:lpstr>
      <vt:lpstr>La pédagogie par projet</vt:lpstr>
      <vt:lpstr>Pédagogie par projet - Exercice</vt:lpstr>
      <vt:lpstr>L’apprentissage par investigation</vt:lpstr>
      <vt:lpstr>L’apprentissage par investigation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TIC au service de l’innovation pédagogique</dc:title>
  <dc:creator>Jérome FOGUENNE</dc:creator>
  <cp:lastModifiedBy>Jérome FOGUENNE</cp:lastModifiedBy>
  <cp:revision>41</cp:revision>
  <dcterms:created xsi:type="dcterms:W3CDTF">2019-01-29T08:10:20Z</dcterms:created>
  <dcterms:modified xsi:type="dcterms:W3CDTF">2026-09-16T14:57:04Z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